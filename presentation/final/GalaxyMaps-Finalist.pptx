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· 0:00–0:25</a:t>
            </a:r>
          </a:p>
          <a:p/>
          <a:p>
            <a:r>
              <a:t>SAY:</a:t>
            </a:r>
          </a:p>
          <a:p>
            <a:r>
              <a:t>We’re TWRD — Towards a new frontier: Teddy, Yijun, Raj, and Diyar. We thought it would be cool to navigate through space. We wanted a way for people to explore space and understand what they’re looking at. This is GalaxyMaps. Navigate the universe.</a:t>
            </a:r>
          </a:p>
          <a:p/>
          <a:p>
            <a:r>
              <a:t>Visual: genuine GalaxyMaps desktop render of Saturn (quiet view). Saturn texture: Solar System Scope; sky: NASA SVS.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· 0:25–1:05</a:t>
            </a:r>
          </a:p>
          <a:p/>
          <a:p>
            <a:r>
              <a:t>SAY:</a:t>
            </a:r>
          </a:p>
          <a:p>
            <a:r>
              <a:t>Space is vast. Now it’s yours to explore. Whether you're a student or just curious, GalaxyMaps guides you through the stars. Plot a course from Earth to Mars, or venture beyond. Let Grok guide you, or explore with your own hands — in a browser, or inside VR.</a:t>
            </a:r>
          </a:p>
          <a:p/>
          <a:p>
            <a:r>
              <a:t>Visual: genuine GalaxyMaps home view supplied by the team (Explore panel, Earth locked, Earth → Mars journey).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· 1:05–1:50</a:t>
            </a:r>
          </a:p>
          <a:p/>
          <a:p>
            <a:r>
              <a:t>SAY:</a:t>
            </a:r>
          </a:p>
          <a:p>
            <a:r>
              <a:t>Bring the universe into the classroom. Explore in a browser, or step into the stars with any WebXR headset. Ask questions, navigate by voice, and learn as you go. We designed GalaxyMaps so more people can get in: keyboard and voice, larger text, high contrast, and reduced motion.</a:t>
            </a:r>
          </a:p>
          <a:p/>
          <a:p>
            <a:r>
              <a:t>Visual: genuine Apple Vision Pro capture: GalaxyMaps (Earth) in a spatial browser window, with the room and a pinch gesture visible. It is a still; don't describe it as showing motion.</a:t>
            </a:r>
          </a:p>
          <a:p>
            <a:r>
              <a:t>Accessibility options named here exist in the app's Accessibility panel: keyboard navigation, Describe current view (spoken descriptions), larger text, high contrast, reduced motion. Voice control uses Grok. The app aims toward WCAG 2.2 AA and states its known limitations; it does not claim full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· 1:50–2:40</a:t>
            </a:r>
          </a:p>
          <a:p/>
          <a:p>
            <a:r>
              <a:t>SAY:</a:t>
            </a:r>
          </a:p>
          <a:p>
            <a:r>
              <a:t>Ask Grok to take you to Saturn and tell you more. Grok is your navigator and your astronomy tutor. It can fly the map and explain what you’re looking at — why Mars is red, how the Sun produces energy, why light can’t escape a black hole.</a:t>
            </a:r>
          </a:p>
          <a:p/>
          <a:p>
            <a:r>
              <a:t>Visual: genuine Apple Vision Pro capture of the immersive WebXR scene: Saturn, the Grok mic HUD and the in-world Saturn card. It shows the interface, not a completed spoken command; don't describe it as a live response.</a:t>
            </a:r>
          </a:p>
          <a:p>
            <a:r>
              <a:t>Grok can act through validated app tools and may use outside knowledge to explain objects. Do not claim a completed spoken command from this 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· 2:40–3:20</a:t>
            </a:r>
          </a:p>
          <a:p/>
          <a:p>
            <a:r>
              <a:t>SAY:</a:t>
            </a:r>
          </a:p>
          <a:p>
            <a:r>
              <a:t>Space should be accessible to everyone. Voice, keyboard, mouse, touch, or spatial interaction. You can explore hands-free, and the same universe is there in a browser or a headset.</a:t>
            </a:r>
          </a:p>
          <a:p/>
          <a:p>
            <a:r>
              <a:t>Visual: genuine Apple Vision Pro capture of Andromeda with the destination card and Grok HUD. Designed with accessibility in mind; do not claim audited ADA or WCAG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· 3:20–3:45 (buffer to 4:00)</a:t>
            </a:r>
          </a:p>
          <a:p/>
          <a:p>
            <a:r>
              <a:t>SAY:</a:t>
            </a:r>
          </a:p>
          <a:p>
            <a:r>
              <a:t>We want a student to ask a question about space and explore the answer. That’s our take on navigation. We’re TWRD — Towards a new frontier, and this is GalaxyMaps.</a:t>
            </a:r>
          </a:p>
          <a:p/>
          <a:p>
            <a:r>
              <a:t>QR codes verified: https://www.galaxies.wiki/ and https://github.com/diyar-niyazov/GalaxyMaps. Leave this slide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</a:t>
            </a:r>
          </a:p>
          <a:p/>
          <a:p>
            <a:r>
              <a:t>SAY:</a:t>
            </a:r>
          </a:p>
          <a:p>
            <a:r>
              <a:t>Positions stay high-precision and render relative to the camera. Route math is separate from the display. Constant-speed comparisons and idealized orbital transfers are labeled differently.</a:t>
            </a:r>
          </a:p>
          <a:p/>
          <a:p>
            <a:r>
              <a:t>Visual: the genuine Earth → Polaris "Sources and model details" panel (constant-speed straight line, positions frozen at the map date, SI definition of c, JPL Horizons position for Earth, Polaris parallax 7.54 ± 0.11 mas).</a:t>
            </a:r>
          </a:p>
          <a:p>
            <a:r>
              <a:t>Verified in the repository: catalog positions are float64 ICRF kilometres, projected relative to the camera every frame (docs/ARCHITECTURE.md); route math lives in TypeScript separate from rendering; the straight-line benchmark and the idealized Hohmann transfer are separate models; Grok can act only through validated app tools. Don't quote frame rates or performance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</a:t>
            </a:r>
          </a:p>
          <a:p/>
          <a:p>
            <a:r>
              <a:t>SAY:</a:t>
            </a:r>
          </a:p>
          <a:p>
            <a:r>
              <a:t>Our Demo-2 story follows the mission through five chapters, with NASA photographs and source links. Falcon 9, Dragon, and Starship profiles sit alongside it.</a:t>
            </a:r>
          </a:p>
          <a:p/>
          <a:p>
            <a:r>
              <a:t>Visual: the genuine Demo-2 mission story (chapter 2 of 5, "Liftoff from Kennedy"), with the NASA/Bill Ingalls photograph credit and NASA source link preserved. The story says the map shows destination context and does not reconstruct a flight trajectory; don't call it a trajectory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Q&amp;A, not timed. Replaces the six text inventory slides. Every tile is a genuine capture of the current app.</a:t>
            </a:r>
          </a:p>
          <a:p/>
          <a:p>
            <a:r>
              <a:t>Explore: search, categories, Surprise me, saved places, Realistic and Atlas layers, shareable views, Play time.</a:t>
            </a:r>
          </a:p>
          <a:p>
            <a:r>
              <a:t>Earth to Polaris: multi-stop routes, light speed and Voyager 1, journey playback, suggested detours. Captured: 433 years at c, 7.7 million years at Voyager 1.</a:t>
            </a:r>
          </a:p>
          <a:p>
            <a:r>
              <a:t>Earth to Mars: idealized Hohmann transfer (~8.5 months), separate from the constant-speed comparison. Assumptions and uncertainty are in Sources and model details.</a:t>
            </a:r>
          </a:p>
          <a:p>
            <a:r>
              <a:t>Compare sizes: Earth/Jupiter (also Earth/Sun, Sun/Sirius A, Earth/Moon).</a:t>
            </a:r>
          </a:p>
          <a:p>
            <a:r>
              <a:t>Grok: voice and typed Mission Control through validated app tools; dictation and spoken replies. Needs a microphone and a configured server.</a:t>
            </a:r>
          </a:p>
          <a:p>
            <a:r>
              <a:t>Accessibility: keyboard, Describe current view, larger text, high contrast, reduced motion. Aims toward WCAG 2.2 AA; does not claim full conformance.</a:t>
            </a:r>
          </a:p>
          <a:p>
            <a:r>
              <a:t>Guided tours: Beautiful nebulae and other self-paced tours with sourced photographs.</a:t>
            </a:r>
          </a:p>
          <a:p>
            <a:r>
              <a:t>Demo-2: five-chapter educational story with NASA photographs; Falcon 9, Dragon, and Starship profiles. No SpaceX API or telemetry.</a:t>
            </a:r>
          </a:p>
          <a:p>
            <a:r>
              <a:t>Classroom next step (proposed, not yet run): predict travel time, change the mode, compare,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satu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824401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402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200" b="1">
                <a:solidFill>
                  <a:srgbClr val="F4F1EA"/>
                </a:solidFill>
                <a:latin typeface="Inter"/>
              </a:rPr>
              <a:t>GalaxyMaps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337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>
                <a:solidFill>
                  <a:srgbClr val="F4F1EA"/>
                </a:solidFill>
                <a:latin typeface="Inter"/>
              </a:rPr>
              <a:t>Navigate the universe.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5B9BFF"/>
                </a:solidFill>
                <a:latin typeface="Inter"/>
              </a:rPr>
              <a:t>TWRD — Towards a new frontier.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7316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F4F1EA"/>
                </a:solidFill>
                <a:latin typeface="Inter"/>
              </a:rPr>
              <a:t>Teddy Lampert, Yijun Wang, Raj Iyer, Diyar Niyazov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943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A9B0BF"/>
                </a:solidFill>
                <a:latin typeface="Inter"/>
              </a:rPr>
              <a:t>BigRed//Hacks 2026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A9B0BF"/>
                </a:solidFill>
                <a:latin typeface="Inter"/>
              </a:rPr>
              <a:t>Major League Hacking</a:t>
            </a:r>
          </a:p>
        </p:txBody>
      </p:sp>
      <p:pic>
        <p:nvPicPr>
          <p:cNvPr id="9" name="Picture 8" descr="cred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4892040"/>
            <a:ext cx="4160520" cy="1027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verview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777240"/>
            <a:ext cx="7040880" cy="4194274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502920" y="594360"/>
            <a:ext cx="41605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4F1EA"/>
                </a:solidFill>
                <a:latin typeface="Inter"/>
              </a:rPr>
              <a:t>Space is vast.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4F1EA"/>
                </a:solidFill>
                <a:latin typeface="Inter"/>
              </a:rPr>
              <a:t>Now it’s yours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4F1EA"/>
                </a:solidFill>
                <a:latin typeface="Inter"/>
              </a:rPr>
              <a:t>to explore.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42316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Whether you're a student or just curious, GalaxyMaps guides you through the stars and helps you discover awesome places.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566160"/>
            <a:ext cx="4114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Plot your course.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Travel from Earth to Mars, or venture beyond.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Let Grok guide you, or take exploration into your own hands.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52120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5B9BFF"/>
                </a:solidFill>
                <a:latin typeface="Inter"/>
              </a:rPr>
              <a:t>Explore in your browser.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5B9BFF"/>
                </a:solidFill>
                <a:latin typeface="Inter"/>
              </a:rPr>
              <a:t>Step inside with VR.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VisionPro_Earth_Ha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7589520" cy="4270148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548640" y="5440680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A9B0BF"/>
                </a:solidFill>
                <a:latin typeface="Inter"/>
              </a:rPr>
              <a:t>Apple Vision Pro demo · GalaxyMaps in the spatial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594360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Inter"/>
              </a:rPr>
              <a:t>Bring the universe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Inter"/>
              </a:rPr>
              <a:t>into the classroom.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5048" y="205740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F4F1EA"/>
                </a:solidFill>
                <a:latin typeface="Inter"/>
              </a:rPr>
              <a:t>Explore in a browser, or step into the stars with any WebXR-compatible VR headset.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8" y="29260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5B9BFF"/>
                </a:solidFill>
                <a:latin typeface="Inter"/>
              </a:rPr>
              <a:t>Let curiosity lead.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8" y="32461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F4F1EA"/>
                </a:solidFill>
                <a:latin typeface="Inter"/>
              </a:rPr>
              <a:t>Ask questions. Navigate by voice. Learn as you explore.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4023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5B9BFF"/>
                </a:solidFill>
                <a:latin typeface="Inter"/>
              </a:rPr>
              <a:t>Making space accessible to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443484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F4F1EA"/>
                </a:solidFill>
                <a:latin typeface="Inter"/>
              </a:rPr>
              <a:t>Both keyboard and voice controlled navigation, larger text, high contrast, and reduced motion.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160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Inter"/>
              </a:rPr>
              <a:t>“Grok, take me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Inter"/>
              </a:rPr>
              <a:t>to Saturn and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Inter"/>
              </a:rPr>
              <a:t>tell me more.”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2860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5B9BFF"/>
                </a:solidFill>
                <a:latin typeface="Inter"/>
              </a:rPr>
              <a:t>Your navigator. Your astronomy tutor. Your companion through the cosmos.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971800"/>
            <a:ext cx="416052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Grok combines scientific knowledge with voice navigation, turning every destination into a hands-on lesson.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Ask why Mars is red, how the Sun produces energy, or why light can’t escape a black hole.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With immersive visuals and Grok beside them, students can move through space, examine worlds up close, and connect each explanation to what they see.</a:t>
            </a:r>
          </a:p>
        </p:txBody>
      </p:sp>
      <p:pic>
        <p:nvPicPr>
          <p:cNvPr id="5" name="Picture 4" descr="02_VisionPro_Immersive_Saturn_Grok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777240"/>
            <a:ext cx="6903720" cy="3884291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846320" y="504748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A9B0BF"/>
                </a:solidFill>
                <a:latin typeface="Inter"/>
              </a:rPr>
              <a:t>Apple Vision Pro · immersive view with the Grok mic HUD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pro-androm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7452360" cy="4845291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457200" y="5623560"/>
            <a:ext cx="7452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A9B0BF"/>
                </a:solidFill>
                <a:latin typeface="Inter"/>
              </a:rPr>
              <a:t>GalaxyMaps on Apple Vision Pro · spatial exploration with natural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594360"/>
            <a:ext cx="35204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4F1EA"/>
                </a:solidFill>
                <a:latin typeface="Inter"/>
              </a:rPr>
              <a:t>Space should be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4F1EA"/>
                </a:solidFill>
                <a:latin typeface="Inter"/>
              </a:rPr>
              <a:t>accessible to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4F1EA"/>
                </a:solidFill>
                <a:latin typeface="Inter"/>
              </a:rPr>
              <a:t>everyone.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5048" y="20574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B9BFF"/>
                </a:solidFill>
                <a:latin typeface="Inter"/>
              </a:rPr>
              <a:t>Voice-controlled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8" y="2423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4F1EA"/>
                </a:solidFill>
                <a:latin typeface="Inter"/>
              </a:rPr>
              <a:t>Explore and ask questions hands-free.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8" y="30175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B9BFF"/>
                </a:solidFill>
                <a:latin typeface="Inter"/>
              </a:rPr>
              <a:t>Accessible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33832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4F1EA"/>
                </a:solidFill>
                <a:latin typeface="Inter"/>
              </a:rPr>
              <a:t>Keyboard controls, larger text, high contrast, and reduced motion.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42519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B9BFF"/>
                </a:solidFill>
                <a:latin typeface="Inter"/>
              </a:rPr>
              <a:t>One universe. Many ways to explore.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48" y="461772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4F1EA"/>
                </a:solidFill>
                <a:latin typeface="Inter"/>
              </a:rPr>
              <a:t>Browser, VR, voice, touch, mouse, or keyboard.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sing-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4F1EA"/>
                </a:solidFill>
                <a:latin typeface="Inter"/>
              </a:rPr>
              <a:t>Where would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4F1EA"/>
                </a:solidFill>
                <a:latin typeface="Inter"/>
              </a:rPr>
              <a:t>you go?</a:t>
            </a:r>
          </a:p>
        </p:txBody>
      </p:sp>
      <p:pic>
        <p:nvPicPr>
          <p:cNvPr id="4" name="Picture 3" descr="qr-galaxies-wi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71800"/>
            <a:ext cx="1554480" cy="1554480"/>
          </a:xfrm>
          <a:prstGeom prst="rect">
            <a:avLst/>
          </a:prstGeom>
        </p:spPr>
      </p:pic>
      <p:pic>
        <p:nvPicPr>
          <p:cNvPr id="5" name="Picture 4" descr="qr-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971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663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galaxies.wiki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4663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5B9BFF"/>
                </a:solidFill>
                <a:latin typeface="Inter"/>
              </a:rPr>
              <a:t>TWRD — Towards a new frontier.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6868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4F1EA"/>
                </a:solidFill>
                <a:latin typeface="Inter"/>
              </a:rPr>
              <a:t>Under the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9164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F4F1EA"/>
                </a:solidFill>
                <a:latin typeface="Inter"/>
              </a:rPr>
              <a:t>Astronomy data and route math power every trip.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971800"/>
            <a:ext cx="128016" cy="128016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F4F1EA"/>
                </a:solidFill>
                <a:latin typeface="Inter"/>
              </a:rPr>
              <a:t>Precise 3D positions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3593592"/>
            <a:ext cx="128016" cy="128016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0215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F4F1EA"/>
                </a:solidFill>
                <a:latin typeface="Inter"/>
              </a:rPr>
              <a:t>Camera-relative rendering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4215383"/>
            <a:ext cx="128016" cy="128016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23944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F4F1EA"/>
                </a:solidFill>
                <a:latin typeface="Inter"/>
              </a:rPr>
              <a:t>Separate travel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4837175"/>
            <a:ext cx="128016" cy="128016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45736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F4F1EA"/>
                </a:solidFill>
                <a:latin typeface="Inter"/>
              </a:rPr>
              <a:t>Validated Grok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064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7C8495"/>
                </a:solidFill>
                <a:latin typeface="Inter"/>
              </a:rPr>
              <a:t>React, TypeScript, Three.js, WebXR</a:t>
            </a:r>
          </a:p>
        </p:txBody>
      </p:sp>
      <p:pic>
        <p:nvPicPr>
          <p:cNvPr id="13" name="Picture 12" descr="source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685800"/>
            <a:ext cx="3367401" cy="5486400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4023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4F1EA"/>
                </a:solidFill>
                <a:latin typeface="Inter"/>
              </a:rPr>
              <a:t>Demo-2: launch to homecoming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42316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5B9BFF"/>
                </a:solidFill>
                <a:latin typeface="Inter"/>
              </a:rPr>
              <a:t>Five chapters from the real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52044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F4F1EA"/>
                </a:solidFill>
                <a:latin typeface="Inter"/>
              </a:rPr>
              <a:t>NASA photographs and source links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F4F1EA"/>
                </a:solidFill>
                <a:latin typeface="Inter"/>
              </a:rPr>
              <a:t>SpaceX spacecraft profiles</a:t>
            </a:r>
          </a:p>
        </p:txBody>
      </p:sp>
      <p:pic>
        <p:nvPicPr>
          <p:cNvPr id="5" name="Picture 4" descr="demo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822960"/>
            <a:ext cx="6852920" cy="5212080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11338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F4F1EA"/>
                </a:solidFill>
                <a:latin typeface="Inter"/>
              </a:rPr>
              <a:t>More of GalaxyMaps</a:t>
            </a:r>
          </a:p>
        </p:txBody>
      </p:sp>
      <p:pic>
        <p:nvPicPr>
          <p:cNvPr id="3" name="Picture 2" descr="tile-expl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658368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53415" y="2248281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Explore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Search, Surprise me, saved places</a:t>
            </a:r>
          </a:p>
        </p:txBody>
      </p:sp>
      <p:pic>
        <p:nvPicPr>
          <p:cNvPr id="5" name="Picture 4" descr="tile-direct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207" y="658368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261207" y="2248281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Earth to Polaris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Light speed · Voyager 1 · 433 years</a:t>
            </a:r>
          </a:p>
        </p:txBody>
      </p:sp>
      <p:pic>
        <p:nvPicPr>
          <p:cNvPr id="7" name="Picture 6" descr="tile-ma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999" y="658368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68999" y="2248281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Earth to Mars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Idealized Hohmann · 8.5 months</a:t>
            </a:r>
          </a:p>
        </p:txBody>
      </p:sp>
      <p:pic>
        <p:nvPicPr>
          <p:cNvPr id="9" name="Picture 8" descr="tile-compa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6791" y="658368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076791" y="2248281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Compare sizes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True scale · Earth and Jupiter</a:t>
            </a:r>
          </a:p>
        </p:txBody>
      </p:sp>
      <p:pic>
        <p:nvPicPr>
          <p:cNvPr id="11" name="Picture 10" descr="tile-guid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415" y="2595753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53415" y="4185665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Grok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Voice or typed commands</a:t>
            </a:r>
          </a:p>
        </p:txBody>
      </p:sp>
      <p:pic>
        <p:nvPicPr>
          <p:cNvPr id="13" name="Picture 12" descr="tile-a11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1207" y="2595753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261207" y="4185665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Accessibility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Keyboard, speech, contrast, motion</a:t>
            </a:r>
          </a:p>
        </p:txBody>
      </p:sp>
      <p:pic>
        <p:nvPicPr>
          <p:cNvPr id="15" name="Picture 14" descr="tile-tou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8999" y="2595753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168999" y="4185665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Guided tours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Beautiful nebulae · sourced photos</a:t>
            </a:r>
          </a:p>
        </p:txBody>
      </p:sp>
      <p:pic>
        <p:nvPicPr>
          <p:cNvPr id="17" name="Picture 16" descr="tile-demo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6791" y="2595753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9076791" y="4185665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Demo-2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Five NASA-sourced chapters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51052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C8495"/>
                </a:solidFill>
                <a:latin typeface="Inter"/>
              </a:rPr>
              <a:t>Cited catalogs · app-calculated distances · React, TypeScript, Three.js, WebXR · keys stay on the server · built with Cursor · next: a classroom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